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649341"/>
            <a:ext cx="5715000" cy="10058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5" b="1" dirty="0">
                <a:solidFill>
                  <a:srgbClr val="FFFFFF"/>
                </a:solidFill>
              </a:rPr>
              <a:t>电池行业要“变天”了！</a:t>
            </a:r>
            <a:r>
              <a:rPr lang="en-US" sz="3295" b="1" dirty="0">
                <a:solidFill>
                  <a:srgbClr val="FFFFFF"/>
                </a:solidFill>
              </a:rPr>
              <a:t>
</a:t>
            </a:r>
            <a:r>
              <a:rPr lang="en-US" sz="3295" b="1" dirty="0">
                <a:solidFill>
                  <a:srgbClr val="FFFFFF"/>
                </a:solidFill>
              </a:rPr>
              <a:t>国家出手整治内卷！</a:t>
            </a:r>
            <a:endParaRPr lang="en-US" sz="3295" dirty="0"/>
          </a:p>
        </p:txBody>
      </p:sp>
      <p:sp>
        <p:nvSpPr>
          <p:cNvPr id="4" name="Text 1"/>
          <p:cNvSpPr/>
          <p:nvPr/>
        </p:nvSpPr>
        <p:spPr>
          <a:xfrm>
            <a:off x="428625" y="2769459"/>
            <a:ext cx="5143500" cy="560059"/>
          </a:xfrm>
          <a:prstGeom prst="rect">
            <a:avLst/>
          </a:prstGeom>
          <a:noFill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5" dirty="0">
                <a:solidFill>
                  <a:srgbClr val="B0B0B0"/>
                </a:solidFill>
              </a:rPr>
              <a:t>别再卷了！多部门联合给动力电池行业“泼冷水”，也点了一把火。</a:t>
            </a:r>
            <a:endParaRPr lang="en-US" sz="1485" dirty="0"/>
          </a:p>
        </p:txBody>
      </p:sp>
      <p:sp>
        <p:nvSpPr>
          <p:cNvPr id="5" name="Text 2"/>
          <p:cNvSpPr/>
          <p:nvPr/>
        </p:nvSpPr>
        <p:spPr>
          <a:xfrm>
            <a:off x="571500" y="4593431"/>
            <a:ext cx="2409453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B0B0B0"/>
                </a:solidFill>
              </a:rPr>
              <a:t>Manus AI 行业分析报告 | 2026.01.07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572500" cy="4982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FFFFFF"/>
                </a:solidFill>
              </a:rPr>
              <a:t>突发信号：多部门联合座谈会</a:t>
            </a:r>
            <a:endParaRPr lang="en-US" sz="2435" dirty="0"/>
          </a:p>
        </p:txBody>
      </p:sp>
      <p:sp>
        <p:nvSpPr>
          <p:cNvPr id="4" name="Shape 1"/>
          <p:cNvSpPr/>
          <p:nvPr/>
        </p:nvSpPr>
        <p:spPr>
          <a:xfrm>
            <a:off x="428625" y="2205940"/>
            <a:ext cx="4143375" cy="2157413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428625" y="2205940"/>
            <a:ext cx="4143375" cy="28575"/>
          </a:xfrm>
          <a:prstGeom prst="rect">
            <a:avLst/>
          </a:prstGeom>
          <a:solidFill>
            <a:srgbClr val="007AFF"/>
          </a:solidFill>
        </p:spPr>
      </p:sp>
      <p:sp>
        <p:nvSpPr>
          <p:cNvPr id="6" name="Shape 3"/>
          <p:cNvSpPr/>
          <p:nvPr/>
        </p:nvSpPr>
        <p:spPr>
          <a:xfrm>
            <a:off x="571500" y="2348815"/>
            <a:ext cx="802500" cy="198239"/>
          </a:xfrm>
          <a:prstGeom prst="rect">
            <a:avLst/>
          </a:prstGeom>
          <a:solidFill>
            <a:srgbClr val="007AFF"/>
          </a:solidFill>
        </p:spPr>
      </p:sp>
      <p:sp>
        <p:nvSpPr>
          <p:cNvPr id="7" name="Text 4"/>
          <p:cNvSpPr/>
          <p:nvPr/>
        </p:nvSpPr>
        <p:spPr>
          <a:xfrm>
            <a:off x="571500" y="2348815"/>
            <a:ext cx="802500" cy="198239"/>
          </a:xfrm>
          <a:prstGeom prst="rect">
            <a:avLst/>
          </a:prstGeom>
          <a:noFill/>
        </p:spPr>
        <p:txBody>
          <a:bodyPr wrap="none" lIns="127508" tIns="25527" rIns="127508" bIns="25527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FFFFFF"/>
                </a:solidFill>
              </a:rPr>
              <a:t>2026.01.07</a:t>
            </a:r>
            <a:endParaRPr lang="en-US" sz="785" dirty="0"/>
          </a:p>
        </p:txBody>
      </p:sp>
      <p:sp>
        <p:nvSpPr>
          <p:cNvPr id="8" name="Text 5"/>
          <p:cNvSpPr/>
          <p:nvPr/>
        </p:nvSpPr>
        <p:spPr>
          <a:xfrm>
            <a:off x="571500" y="2647066"/>
            <a:ext cx="3857625" cy="10972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70" dirty="0">
                <a:solidFill>
                  <a:srgbClr val="B0B0B0"/>
                </a:solidFill>
              </a:rPr>
              <a:t>财联社突发爆料：动力和储能电池行业座谈会今日秘密召开。由多部门联合发起，信号非常明确：无序扩张的时代结束了，靠“价格战”清场的路走不通了。</a:t>
            </a:r>
            <a:endParaRPr lang="en-US" sz="1270" dirty="0"/>
          </a:p>
        </p:txBody>
      </p:sp>
      <p:sp>
        <p:nvSpPr>
          <p:cNvPr id="9" name="Text 6"/>
          <p:cNvSpPr/>
          <p:nvPr/>
        </p:nvSpPr>
        <p:spPr>
          <a:xfrm>
            <a:off x="4857750" y="2244337"/>
            <a:ext cx="669810" cy="5429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4145" b="1" dirty="0">
                <a:solidFill>
                  <a:srgbClr val="007AFF">
                    <a:alpha val="20000"/>
                  </a:srgbClr>
                </a:solidFill>
              </a:rPr>
              <a:t>01</a:t>
            </a:r>
            <a:endParaRPr lang="en-US" sz="4145" dirty="0"/>
          </a:p>
        </p:txBody>
      </p:sp>
      <p:sp>
        <p:nvSpPr>
          <p:cNvPr id="10" name="Text 7"/>
          <p:cNvSpPr/>
          <p:nvPr/>
        </p:nvSpPr>
        <p:spPr>
          <a:xfrm>
            <a:off x="5670435" y="2220227"/>
            <a:ext cx="1441698" cy="3732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10" b="1" dirty="0">
                <a:solidFill>
                  <a:srgbClr val="FFFFFF"/>
                </a:solidFill>
              </a:rPr>
              <a:t>控产能</a:t>
            </a:r>
            <a:endParaRPr lang="en-US" sz="1810" dirty="0"/>
          </a:p>
        </p:txBody>
      </p:sp>
      <p:sp>
        <p:nvSpPr>
          <p:cNvPr id="11" name="Text 8"/>
          <p:cNvSpPr/>
          <p:nvPr/>
        </p:nvSpPr>
        <p:spPr>
          <a:xfrm>
            <a:off x="5670435" y="2636351"/>
            <a:ext cx="1441698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kern="0" spc="2" dirty="0">
                <a:solidFill>
                  <a:srgbClr val="007AFF"/>
                </a:solidFill>
              </a:rPr>
              <a:t>Capacity Control</a:t>
            </a:r>
            <a:endParaRPr lang="en-US" sz="940" dirty="0"/>
          </a:p>
        </p:txBody>
      </p:sp>
      <p:sp>
        <p:nvSpPr>
          <p:cNvPr id="12" name="Text 9"/>
          <p:cNvSpPr/>
          <p:nvPr/>
        </p:nvSpPr>
        <p:spPr>
          <a:xfrm>
            <a:off x="4857750" y="2964070"/>
            <a:ext cx="669810" cy="5429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4145" b="1" dirty="0">
                <a:solidFill>
                  <a:srgbClr val="007AFF">
                    <a:alpha val="20000"/>
                  </a:srgbClr>
                </a:solidFill>
              </a:rPr>
              <a:t>02</a:t>
            </a:r>
            <a:endParaRPr lang="en-US" sz="4145" dirty="0"/>
          </a:p>
        </p:txBody>
      </p:sp>
      <p:sp>
        <p:nvSpPr>
          <p:cNvPr id="13" name="Text 10"/>
          <p:cNvSpPr/>
          <p:nvPr/>
        </p:nvSpPr>
        <p:spPr>
          <a:xfrm>
            <a:off x="5670435" y="2939960"/>
            <a:ext cx="1409049" cy="3732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10" b="1" dirty="0">
                <a:solidFill>
                  <a:srgbClr val="FFFFFF"/>
                </a:solidFill>
              </a:rPr>
              <a:t>管价格</a:t>
            </a:r>
            <a:endParaRPr lang="en-US" sz="1810" dirty="0"/>
          </a:p>
        </p:txBody>
      </p:sp>
      <p:sp>
        <p:nvSpPr>
          <p:cNvPr id="14" name="Text 11"/>
          <p:cNvSpPr/>
          <p:nvPr/>
        </p:nvSpPr>
        <p:spPr>
          <a:xfrm>
            <a:off x="5670435" y="3356084"/>
            <a:ext cx="1409049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kern="0" spc="2" dirty="0">
                <a:solidFill>
                  <a:srgbClr val="007AFF"/>
                </a:solidFill>
              </a:rPr>
              <a:t>Price Regulation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4857750" y="3683803"/>
            <a:ext cx="669810" cy="5429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4145" b="1" dirty="0">
                <a:solidFill>
                  <a:srgbClr val="007AFF">
                    <a:alpha val="20000"/>
                  </a:srgbClr>
                </a:solidFill>
              </a:rPr>
              <a:t>03</a:t>
            </a:r>
            <a:endParaRPr lang="en-US" sz="4145" dirty="0"/>
          </a:p>
        </p:txBody>
      </p:sp>
      <p:sp>
        <p:nvSpPr>
          <p:cNvPr id="16" name="Text 13"/>
          <p:cNvSpPr/>
          <p:nvPr/>
        </p:nvSpPr>
        <p:spPr>
          <a:xfrm>
            <a:off x="5670435" y="3659693"/>
            <a:ext cx="1524912" cy="3732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10" b="1" dirty="0">
                <a:solidFill>
                  <a:srgbClr val="FFFFFF"/>
                </a:solidFill>
              </a:rPr>
              <a:t>护专利</a:t>
            </a:r>
            <a:endParaRPr lang="en-US" sz="1810" dirty="0"/>
          </a:p>
        </p:txBody>
      </p:sp>
      <p:sp>
        <p:nvSpPr>
          <p:cNvPr id="17" name="Text 14"/>
          <p:cNvSpPr/>
          <p:nvPr/>
        </p:nvSpPr>
        <p:spPr>
          <a:xfrm>
            <a:off x="5670435" y="4075816"/>
            <a:ext cx="1524912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kern="0" spc="2" dirty="0">
                <a:solidFill>
                  <a:srgbClr val="007AFF"/>
                </a:solidFill>
              </a:rPr>
              <a:t>Patent Protection</a:t>
            </a:r>
            <a:endParaRPr lang="en-US" sz="9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572500" cy="4982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FFFFFF"/>
                </a:solidFill>
              </a:rPr>
              <a:t>追根溯源：行业发展历程</a:t>
            </a:r>
            <a:endParaRPr lang="en-US" sz="2435" dirty="0"/>
          </a:p>
        </p:txBody>
      </p:sp>
      <p:sp>
        <p:nvSpPr>
          <p:cNvPr id="4" name="Text 1"/>
          <p:cNvSpPr/>
          <p:nvPr/>
        </p:nvSpPr>
        <p:spPr>
          <a:xfrm>
            <a:off x="571500" y="2890289"/>
            <a:ext cx="1857375" cy="1946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07AFF"/>
                </a:solidFill>
              </a:rPr>
              <a:t>1990s - 2009</a:t>
            </a:r>
            <a:endParaRPr lang="en-US" sz="985" dirty="0"/>
          </a:p>
        </p:txBody>
      </p:sp>
      <p:sp>
        <p:nvSpPr>
          <p:cNvPr id="5" name="Text 2"/>
          <p:cNvSpPr/>
          <p:nvPr/>
        </p:nvSpPr>
        <p:spPr>
          <a:xfrm>
            <a:off x="571500" y="3156393"/>
            <a:ext cx="1857375" cy="2893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FFFFFF"/>
                </a:solidFill>
              </a:rPr>
              <a:t>萌芽与起步</a:t>
            </a:r>
            <a:endParaRPr lang="en-US" sz="1395" dirty="0"/>
          </a:p>
        </p:txBody>
      </p:sp>
      <p:sp>
        <p:nvSpPr>
          <p:cNvPr id="6" name="Text 3"/>
          <p:cNvSpPr/>
          <p:nvPr/>
        </p:nvSpPr>
        <p:spPr>
          <a:xfrm>
            <a:off x="571500" y="3552872"/>
            <a:ext cx="1857375" cy="5786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B0B0B0"/>
                </a:solidFill>
              </a:rPr>
              <a:t>锂电产业从消费电子起步，中国企业开始在全球产业链中崭露头角。</a:t>
            </a:r>
            <a:endParaRPr lang="en-US" sz="940" dirty="0"/>
          </a:p>
        </p:txBody>
      </p:sp>
      <p:sp>
        <p:nvSpPr>
          <p:cNvPr id="7" name="Text 4"/>
          <p:cNvSpPr/>
          <p:nvPr/>
        </p:nvSpPr>
        <p:spPr>
          <a:xfrm>
            <a:off x="2619356" y="2890289"/>
            <a:ext cx="1857375" cy="1946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07AFF"/>
                </a:solidFill>
              </a:rPr>
              <a:t>2010 - 2015</a:t>
            </a:r>
            <a:endParaRPr lang="en-US" sz="985" dirty="0"/>
          </a:p>
        </p:txBody>
      </p:sp>
      <p:sp>
        <p:nvSpPr>
          <p:cNvPr id="8" name="Text 5"/>
          <p:cNvSpPr/>
          <p:nvPr/>
        </p:nvSpPr>
        <p:spPr>
          <a:xfrm>
            <a:off x="2619356" y="3156393"/>
            <a:ext cx="1857375" cy="2893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FFFFFF"/>
                </a:solidFill>
              </a:rPr>
              <a:t>政策驱动期</a:t>
            </a:r>
            <a:endParaRPr lang="en-US" sz="1395" dirty="0"/>
          </a:p>
        </p:txBody>
      </p:sp>
      <p:sp>
        <p:nvSpPr>
          <p:cNvPr id="9" name="Text 6"/>
          <p:cNvSpPr/>
          <p:nvPr/>
        </p:nvSpPr>
        <p:spPr>
          <a:xfrm>
            <a:off x="2619356" y="3552872"/>
            <a:ext cx="1857375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B0B0B0"/>
                </a:solidFill>
              </a:rPr>
              <a:t>国家新能源汽车补贴政策出台，动力电池需求开始爆发式增长。</a:t>
            </a:r>
            <a:endParaRPr lang="en-US" sz="940" dirty="0"/>
          </a:p>
        </p:txBody>
      </p:sp>
      <p:sp>
        <p:nvSpPr>
          <p:cNvPr id="10" name="Text 7"/>
          <p:cNvSpPr/>
          <p:nvPr/>
        </p:nvSpPr>
        <p:spPr>
          <a:xfrm>
            <a:off x="4667213" y="2890289"/>
            <a:ext cx="1857375" cy="1946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07AFF"/>
                </a:solidFill>
              </a:rPr>
              <a:t>2016 - 2020</a:t>
            </a:r>
            <a:endParaRPr lang="en-US" sz="985" dirty="0"/>
          </a:p>
        </p:txBody>
      </p:sp>
      <p:sp>
        <p:nvSpPr>
          <p:cNvPr id="11" name="Text 8"/>
          <p:cNvSpPr/>
          <p:nvPr/>
        </p:nvSpPr>
        <p:spPr>
          <a:xfrm>
            <a:off x="4667213" y="3156393"/>
            <a:ext cx="1857375" cy="2893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FFFFFF"/>
                </a:solidFill>
              </a:rPr>
              <a:t>全球领跑期</a:t>
            </a:r>
            <a:endParaRPr lang="en-US" sz="1395" dirty="0"/>
          </a:p>
        </p:txBody>
      </p:sp>
      <p:sp>
        <p:nvSpPr>
          <p:cNvPr id="12" name="Text 9"/>
          <p:cNvSpPr/>
          <p:nvPr/>
        </p:nvSpPr>
        <p:spPr>
          <a:xfrm>
            <a:off x="4667213" y="3552872"/>
            <a:ext cx="1857375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B0B0B0"/>
                </a:solidFill>
              </a:rPr>
              <a:t>宁德时代等巨头崛起，中国成为全球最大的动力电池生产基地。</a:t>
            </a:r>
            <a:endParaRPr lang="en-US" sz="940" dirty="0"/>
          </a:p>
        </p:txBody>
      </p:sp>
      <p:sp>
        <p:nvSpPr>
          <p:cNvPr id="13" name="Text 10"/>
          <p:cNvSpPr/>
          <p:nvPr/>
        </p:nvSpPr>
        <p:spPr>
          <a:xfrm>
            <a:off x="6715069" y="2890289"/>
            <a:ext cx="1857375" cy="1946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07AFF"/>
                </a:solidFill>
              </a:rPr>
              <a:t>2021 - 2025</a:t>
            </a:r>
            <a:endParaRPr lang="en-US" sz="985" dirty="0"/>
          </a:p>
        </p:txBody>
      </p:sp>
      <p:sp>
        <p:nvSpPr>
          <p:cNvPr id="14" name="Text 11"/>
          <p:cNvSpPr/>
          <p:nvPr/>
        </p:nvSpPr>
        <p:spPr>
          <a:xfrm>
            <a:off x="6715069" y="3156393"/>
            <a:ext cx="1857375" cy="2893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FFFFFF"/>
                </a:solidFill>
              </a:rPr>
              <a:t>结构调整期</a:t>
            </a:r>
            <a:endParaRPr lang="en-US" sz="1395" dirty="0"/>
          </a:p>
        </p:txBody>
      </p:sp>
      <p:sp>
        <p:nvSpPr>
          <p:cNvPr id="15" name="Text 12"/>
          <p:cNvSpPr/>
          <p:nvPr/>
        </p:nvSpPr>
        <p:spPr>
          <a:xfrm>
            <a:off x="6715069" y="3552872"/>
            <a:ext cx="1857375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B0B0B0"/>
                </a:solidFill>
              </a:rPr>
              <a:t>磷酸铁锂回归主流，产能过剩与价格战成为行业主旋律。</a:t>
            </a:r>
            <a:endParaRPr lang="en-US" sz="9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03799"/>
            <a:ext cx="8601075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25" b="1" dirty="0">
                <a:solidFill>
                  <a:srgbClr val="FFFFFF"/>
                </a:solidFill>
              </a:rPr>
              <a:t>市场现状：双雄并立与全球领先</a:t>
            </a:r>
            <a:endParaRPr lang="en-US" sz="2225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8" y="1786886"/>
            <a:ext cx="2857500" cy="2857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65357" y="2757543"/>
            <a:ext cx="726960" cy="4661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007AFF"/>
                </a:solidFill>
              </a:rPr>
              <a:t>56%</a:t>
            </a:r>
            <a:endParaRPr lang="en-US" sz="2435" dirty="0"/>
          </a:p>
        </p:txBody>
      </p:sp>
      <p:sp>
        <p:nvSpPr>
          <p:cNvPr id="6" name="Text 2"/>
          <p:cNvSpPr/>
          <p:nvPr/>
        </p:nvSpPr>
        <p:spPr>
          <a:xfrm>
            <a:off x="1785924" y="3232603"/>
            <a:ext cx="685800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5" dirty="0">
                <a:solidFill>
                  <a:srgbClr val="B0B0B0"/>
                </a:solidFill>
              </a:rPr>
              <a:t>中企双雄份额</a:t>
            </a:r>
            <a:endParaRPr lang="en-US" sz="835" dirty="0"/>
          </a:p>
        </p:txBody>
      </p:sp>
      <p:sp>
        <p:nvSpPr>
          <p:cNvPr id="7" name="Text 3"/>
          <p:cNvSpPr/>
          <p:nvPr/>
        </p:nvSpPr>
        <p:spPr>
          <a:xfrm>
            <a:off x="1285708" y="4760591"/>
            <a:ext cx="1686232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B0B0B0"/>
                </a:solidFill>
              </a:rPr>
              <a:t>数据来源：SNE Research (2025.1-11)</a:t>
            </a:r>
            <a:endParaRPr lang="en-US" sz="725" dirty="0"/>
          </a:p>
        </p:txBody>
      </p:sp>
      <p:sp>
        <p:nvSpPr>
          <p:cNvPr id="8" name="Shape 4"/>
          <p:cNvSpPr/>
          <p:nvPr/>
        </p:nvSpPr>
        <p:spPr>
          <a:xfrm>
            <a:off x="3914775" y="1786886"/>
            <a:ext cx="2328863" cy="821531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9" name="Shape 5"/>
          <p:cNvSpPr/>
          <p:nvPr/>
        </p:nvSpPr>
        <p:spPr>
          <a:xfrm>
            <a:off x="3914775" y="1786886"/>
            <a:ext cx="2328863" cy="21431"/>
          </a:xfrm>
          <a:prstGeom prst="rect">
            <a:avLst/>
          </a:prstGeom>
          <a:solidFill>
            <a:srgbClr val="007AFF"/>
          </a:solidFill>
        </p:spPr>
      </p:sp>
      <p:sp>
        <p:nvSpPr>
          <p:cNvPr id="10" name="Text 6"/>
          <p:cNvSpPr/>
          <p:nvPr/>
        </p:nvSpPr>
        <p:spPr>
          <a:xfrm>
            <a:off x="4029075" y="1872611"/>
            <a:ext cx="2214563" cy="31253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38.2%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029075" y="2220869"/>
            <a:ext cx="2214563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B0B0B0"/>
                </a:solidFill>
              </a:rPr>
              <a:t>宁德时代 (CATL) 全球份额</a:t>
            </a:r>
            <a:endParaRPr lang="en-US" sz="835" dirty="0"/>
          </a:p>
        </p:txBody>
      </p:sp>
      <p:sp>
        <p:nvSpPr>
          <p:cNvPr id="12" name="Shape 8"/>
          <p:cNvSpPr/>
          <p:nvPr/>
        </p:nvSpPr>
        <p:spPr>
          <a:xfrm>
            <a:off x="6329363" y="1786886"/>
            <a:ext cx="2328863" cy="821531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13" name="Shape 9"/>
          <p:cNvSpPr/>
          <p:nvPr/>
        </p:nvSpPr>
        <p:spPr>
          <a:xfrm>
            <a:off x="6329363" y="1786886"/>
            <a:ext cx="2328863" cy="21431"/>
          </a:xfrm>
          <a:prstGeom prst="rect">
            <a:avLst/>
          </a:prstGeom>
          <a:solidFill>
            <a:srgbClr val="007AFF"/>
          </a:solidFill>
        </p:spPr>
      </p:sp>
      <p:sp>
        <p:nvSpPr>
          <p:cNvPr id="14" name="Text 10"/>
          <p:cNvSpPr/>
          <p:nvPr/>
        </p:nvSpPr>
        <p:spPr>
          <a:xfrm>
            <a:off x="6443663" y="1872611"/>
            <a:ext cx="2214563" cy="31253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17.8%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43663" y="2220869"/>
            <a:ext cx="2214563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B0B0B0"/>
                </a:solidFill>
              </a:rPr>
              <a:t>比亚迪 (BYD) 全球份额</a:t>
            </a:r>
            <a:endParaRPr lang="en-US" sz="835" dirty="0"/>
          </a:p>
        </p:txBody>
      </p:sp>
      <p:sp>
        <p:nvSpPr>
          <p:cNvPr id="16" name="Shape 12"/>
          <p:cNvSpPr/>
          <p:nvPr/>
        </p:nvSpPr>
        <p:spPr>
          <a:xfrm>
            <a:off x="3914775" y="2672711"/>
            <a:ext cx="2328863" cy="821531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17" name="Shape 13"/>
          <p:cNvSpPr/>
          <p:nvPr/>
        </p:nvSpPr>
        <p:spPr>
          <a:xfrm>
            <a:off x="3914775" y="2672711"/>
            <a:ext cx="2328863" cy="21431"/>
          </a:xfrm>
          <a:prstGeom prst="rect">
            <a:avLst/>
          </a:prstGeom>
          <a:solidFill>
            <a:srgbClr val="007AFF"/>
          </a:solidFill>
        </p:spPr>
      </p:sp>
      <p:sp>
        <p:nvSpPr>
          <p:cNvPr id="18" name="Text 14"/>
          <p:cNvSpPr/>
          <p:nvPr/>
        </p:nvSpPr>
        <p:spPr>
          <a:xfrm>
            <a:off x="4029075" y="2758436"/>
            <a:ext cx="2214563" cy="3321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TOP 10 占 6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029075" y="3126339"/>
            <a:ext cx="2214563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B0B0B0"/>
                </a:solidFill>
              </a:rPr>
              <a:t>全球前十中企席位</a:t>
            </a:r>
            <a:endParaRPr lang="en-US" sz="835" dirty="0"/>
          </a:p>
        </p:txBody>
      </p:sp>
      <p:sp>
        <p:nvSpPr>
          <p:cNvPr id="20" name="Shape 16"/>
          <p:cNvSpPr/>
          <p:nvPr/>
        </p:nvSpPr>
        <p:spPr>
          <a:xfrm>
            <a:off x="6329363" y="2672711"/>
            <a:ext cx="2328863" cy="821531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21" name="Shape 17"/>
          <p:cNvSpPr/>
          <p:nvPr/>
        </p:nvSpPr>
        <p:spPr>
          <a:xfrm>
            <a:off x="6329363" y="2672711"/>
            <a:ext cx="2328863" cy="21431"/>
          </a:xfrm>
          <a:prstGeom prst="rect">
            <a:avLst/>
          </a:prstGeom>
          <a:solidFill>
            <a:srgbClr val="007AFF"/>
          </a:solidFill>
        </p:spPr>
      </p:sp>
      <p:sp>
        <p:nvSpPr>
          <p:cNvPr id="22" name="Text 18"/>
          <p:cNvSpPr/>
          <p:nvPr/>
        </p:nvSpPr>
        <p:spPr>
          <a:xfrm>
            <a:off x="6443663" y="2758436"/>
            <a:ext cx="2214563" cy="3321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4000万+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443663" y="3126339"/>
            <a:ext cx="2214563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B0B0B0"/>
                </a:solidFill>
              </a:rPr>
              <a:t>中国新能源车累计销量</a:t>
            </a:r>
            <a:endParaRPr lang="en-US" sz="835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775" y="3615686"/>
            <a:ext cx="2300288" cy="871538"/>
          </a:xfrm>
          <a:prstGeom prst="rect">
            <a:avLst/>
          </a:prstGeom>
        </p:spPr>
      </p:pic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938" y="3615686"/>
            <a:ext cx="2300288" cy="8715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572500" cy="4982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FFFFFF"/>
                </a:solidFill>
              </a:rPr>
              <a:t>价格走势：跌破“现金成本线”</a:t>
            </a:r>
            <a:endParaRPr lang="en-US" sz="2435" dirty="0"/>
          </a:p>
        </p:txBody>
      </p:sp>
      <p:sp>
        <p:nvSpPr>
          <p:cNvPr id="4" name="Shape 1"/>
          <p:cNvSpPr/>
          <p:nvPr/>
        </p:nvSpPr>
        <p:spPr>
          <a:xfrm>
            <a:off x="571500" y="1724518"/>
            <a:ext cx="3571875" cy="1143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938" y="1795955"/>
            <a:ext cx="1324970" cy="100009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2953243"/>
            <a:ext cx="4000500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5" dirty="0">
                <a:solidFill>
                  <a:srgbClr val="B0B0B0"/>
                </a:solidFill>
              </a:rPr>
              <a:t>图1：全球动力电池包成本长期趋势 (2008-2023)</a:t>
            </a:r>
            <a:endParaRPr lang="en-US" sz="725" dirty="0"/>
          </a:p>
        </p:txBody>
      </p:sp>
      <p:sp>
        <p:nvSpPr>
          <p:cNvPr id="7" name="Shape 3"/>
          <p:cNvSpPr/>
          <p:nvPr/>
        </p:nvSpPr>
        <p:spPr>
          <a:xfrm>
            <a:off x="571500" y="3169341"/>
            <a:ext cx="3571875" cy="1143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087" y="3240779"/>
            <a:ext cx="2074701" cy="100009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71500" y="4398066"/>
            <a:ext cx="4000500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5" dirty="0">
                <a:solidFill>
                  <a:srgbClr val="B0B0B0"/>
                </a:solidFill>
              </a:rPr>
              <a:t>图2：电池价格下降与燃油车平价预测</a:t>
            </a:r>
            <a:endParaRPr lang="en-US" sz="725" dirty="0"/>
          </a:p>
        </p:txBody>
      </p:sp>
      <p:sp>
        <p:nvSpPr>
          <p:cNvPr id="10" name="Shape 5"/>
          <p:cNvSpPr/>
          <p:nvPr/>
        </p:nvSpPr>
        <p:spPr>
          <a:xfrm>
            <a:off x="4857750" y="1724518"/>
            <a:ext cx="3714750" cy="30202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11" name="Shape 6"/>
          <p:cNvSpPr/>
          <p:nvPr/>
        </p:nvSpPr>
        <p:spPr>
          <a:xfrm>
            <a:off x="4857750" y="1724518"/>
            <a:ext cx="3714750" cy="28575"/>
          </a:xfrm>
          <a:prstGeom prst="rect">
            <a:avLst/>
          </a:prstGeom>
          <a:solidFill>
            <a:srgbClr val="007AFF"/>
          </a:solidFill>
        </p:spPr>
      </p:sp>
      <p:sp>
        <p:nvSpPr>
          <p:cNvPr id="12" name="Text 7"/>
          <p:cNvSpPr/>
          <p:nvPr/>
        </p:nvSpPr>
        <p:spPr>
          <a:xfrm>
            <a:off x="4972050" y="1853105"/>
            <a:ext cx="3486150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07AFF"/>
                </a:solidFill>
              </a:rPr>
              <a:t>原材料剧烈波动</a:t>
            </a:r>
            <a:endParaRPr lang="en-US" sz="1195" dirty="0"/>
          </a:p>
        </p:txBody>
      </p:sp>
      <p:sp>
        <p:nvSpPr>
          <p:cNvPr id="13" name="Text 8"/>
          <p:cNvSpPr/>
          <p:nvPr/>
        </p:nvSpPr>
        <p:spPr>
          <a:xfrm>
            <a:off x="4972050" y="2160287"/>
            <a:ext cx="3486150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B0B0B0"/>
                </a:solidFill>
              </a:rPr>
              <a:t>碳酸锂价格从2024年初的10万元/吨一路下探至7.5万元/吨，击穿多数高成本矿山成本线。</a:t>
            </a:r>
            <a:endParaRPr lang="en-US" sz="940" dirty="0"/>
          </a:p>
        </p:txBody>
      </p:sp>
      <p:sp>
        <p:nvSpPr>
          <p:cNvPr id="14" name="Text 9"/>
          <p:cNvSpPr/>
          <p:nvPr/>
        </p:nvSpPr>
        <p:spPr>
          <a:xfrm>
            <a:off x="4972050" y="2657447"/>
            <a:ext cx="3486150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07AFF"/>
                </a:solidFill>
              </a:rPr>
              <a:t>电芯价格触底</a:t>
            </a:r>
            <a:endParaRPr lang="en-US" sz="1195" dirty="0"/>
          </a:p>
        </p:txBody>
      </p:sp>
      <p:sp>
        <p:nvSpPr>
          <p:cNvPr id="15" name="Text 10"/>
          <p:cNvSpPr/>
          <p:nvPr/>
        </p:nvSpPr>
        <p:spPr>
          <a:xfrm>
            <a:off x="4972050" y="2964628"/>
            <a:ext cx="3486150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B0B0B0"/>
                </a:solidFill>
              </a:rPr>
              <a:t>过去一年，电芯价格跌至历史低点，部分规格产品已跌破二三线企业的现金成本线。</a:t>
            </a:r>
            <a:endParaRPr lang="en-US" sz="940" dirty="0"/>
          </a:p>
        </p:txBody>
      </p:sp>
      <p:sp>
        <p:nvSpPr>
          <p:cNvPr id="16" name="Shape 11"/>
          <p:cNvSpPr/>
          <p:nvPr/>
        </p:nvSpPr>
        <p:spPr>
          <a:xfrm>
            <a:off x="4972050" y="3461789"/>
            <a:ext cx="3486150" cy="450056"/>
          </a:xfrm>
          <a:prstGeom prst="rect">
            <a:avLst/>
          </a:prstGeom>
          <a:solidFill>
            <a:srgbClr val="FF0000">
              <a:alpha val="10000"/>
            </a:srgbClr>
          </a:solidFill>
        </p:spPr>
      </p:sp>
      <p:sp>
        <p:nvSpPr>
          <p:cNvPr id="17" name="Shape 12"/>
          <p:cNvSpPr/>
          <p:nvPr/>
        </p:nvSpPr>
        <p:spPr>
          <a:xfrm>
            <a:off x="4972050" y="3461789"/>
            <a:ext cx="28575" cy="450056"/>
          </a:xfrm>
          <a:prstGeom prst="rect">
            <a:avLst/>
          </a:prstGeom>
          <a:solidFill>
            <a:srgbClr val="FF4D4F"/>
          </a:solidFill>
        </p:spPr>
      </p:sp>
      <p:sp>
        <p:nvSpPr>
          <p:cNvPr id="18" name="Text 13"/>
          <p:cNvSpPr/>
          <p:nvPr/>
        </p:nvSpPr>
        <p:spPr>
          <a:xfrm>
            <a:off x="4972050" y="3461789"/>
            <a:ext cx="3486150" cy="450056"/>
          </a:xfrm>
          <a:prstGeom prst="rect">
            <a:avLst/>
          </a:prstGeom>
          <a:noFill/>
        </p:spPr>
        <p:txBody>
          <a:bodyPr wrap="square" lIns="102108" tIns="85090" rIns="102108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D4F"/>
                </a:solidFill>
              </a:rPr>
              <a:t>警示：长期低于成本价的竞争将导致企业丧失研发能力，损害产业链长期健康。</a:t>
            </a:r>
            <a:endParaRPr lang="en-US" sz="885" dirty="0"/>
          </a:p>
        </p:txBody>
      </p:sp>
      <p:sp>
        <p:nvSpPr>
          <p:cNvPr id="19" name="Text 14"/>
          <p:cNvSpPr/>
          <p:nvPr/>
        </p:nvSpPr>
        <p:spPr>
          <a:xfrm>
            <a:off x="4972050" y="4011857"/>
            <a:ext cx="3486150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07AFF"/>
                </a:solidFill>
              </a:rPr>
              <a:t>最新反弹信号</a:t>
            </a:r>
            <a:endParaRPr lang="en-US" sz="1195" dirty="0"/>
          </a:p>
        </p:txBody>
      </p:sp>
      <p:sp>
        <p:nvSpPr>
          <p:cNvPr id="20" name="Text 15"/>
          <p:cNvSpPr/>
          <p:nvPr/>
        </p:nvSpPr>
        <p:spPr>
          <a:xfrm>
            <a:off x="4972050" y="4319039"/>
            <a:ext cx="3486150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B0B0B0"/>
                </a:solidFill>
              </a:rPr>
              <a:t>2026年1月，碳酸锂期货合约出现涨停，行业底部特征明显，价格博弈进入新阶段。</a:t>
            </a:r>
            <a:endParaRPr lang="en-US" sz="9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98956"/>
            <a:ext cx="8572500" cy="4982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FFFFFF"/>
                </a:solidFill>
              </a:rPr>
              <a:t>恶性竞争：内卷带来的“慢性自杀”</a:t>
            </a:r>
            <a:endParaRPr lang="en-US" sz="2435" dirty="0"/>
          </a:p>
        </p:txBody>
      </p:sp>
      <p:sp>
        <p:nvSpPr>
          <p:cNvPr id="4" name="Text 1"/>
          <p:cNvSpPr/>
          <p:nvPr/>
        </p:nvSpPr>
        <p:spPr>
          <a:xfrm>
            <a:off x="628650" y="1368670"/>
            <a:ext cx="8572500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B0B0B0"/>
                </a:solidFill>
              </a:rPr>
              <a:t>价格战没有赢家，只有对产业根基的持续侵蚀</a:t>
            </a:r>
            <a:endParaRPr lang="en-US" sz="1270" dirty="0"/>
          </a:p>
        </p:txBody>
      </p:sp>
      <p:sp>
        <p:nvSpPr>
          <p:cNvPr id="5" name="Shape 2"/>
          <p:cNvSpPr/>
          <p:nvPr/>
        </p:nvSpPr>
        <p:spPr>
          <a:xfrm>
            <a:off x="628650" y="1961601"/>
            <a:ext cx="2571750" cy="2286000"/>
          </a:xfrm>
          <a:prstGeom prst="rect">
            <a:avLst/>
          </a:prstGeom>
          <a:solidFill>
            <a:srgbClr val="FFFFFF">
              <a:alpha val="3000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628650" y="1961601"/>
            <a:ext cx="2571750" cy="28575"/>
          </a:xfrm>
          <a:prstGeom prst="rect">
            <a:avLst/>
          </a:prstGeom>
          <a:solidFill>
            <a:srgbClr val="007AFF"/>
          </a:solidFill>
        </p:spPr>
      </p:sp>
      <p:sp>
        <p:nvSpPr>
          <p:cNvPr id="7" name="Text 4"/>
          <p:cNvSpPr/>
          <p:nvPr/>
        </p:nvSpPr>
        <p:spPr>
          <a:xfrm>
            <a:off x="742950" y="2742056"/>
            <a:ext cx="2343150" cy="2893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FFFFFF"/>
                </a:solidFill>
              </a:rPr>
              <a:t>企业盈利枯竭</a:t>
            </a:r>
            <a:endParaRPr lang="en-US" sz="1395" dirty="0"/>
          </a:p>
        </p:txBody>
      </p:sp>
      <p:sp>
        <p:nvSpPr>
          <p:cNvPr id="8" name="Text 5"/>
          <p:cNvSpPr/>
          <p:nvPr/>
        </p:nvSpPr>
        <p:spPr>
          <a:xfrm>
            <a:off x="742950" y="3159965"/>
            <a:ext cx="2343150" cy="617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B0B0B0"/>
                </a:solidFill>
              </a:rPr>
              <a:t>利润空间被极度压缩，电芯价格跌至现金成本线以下。多数二三线企业面临生存危机，行业陷入“增收不增利”的怪圈。</a:t>
            </a:r>
            <a:endParaRPr lang="en-US" sz="940" dirty="0"/>
          </a:p>
        </p:txBody>
      </p:sp>
      <p:sp>
        <p:nvSpPr>
          <p:cNvPr id="9" name="Text 6"/>
          <p:cNvSpPr/>
          <p:nvPr/>
        </p:nvSpPr>
        <p:spPr>
          <a:xfrm>
            <a:off x="742950" y="3905706"/>
            <a:ext cx="949616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FF3B30"/>
                </a:solidFill>
              </a:rPr>
              <a:t>Survival Crisis</a:t>
            </a:r>
            <a:endParaRPr lang="en-US" sz="785" dirty="0"/>
          </a:p>
        </p:txBody>
      </p:sp>
      <p:sp>
        <p:nvSpPr>
          <p:cNvPr id="10" name="Shape 7"/>
          <p:cNvSpPr/>
          <p:nvPr/>
        </p:nvSpPr>
        <p:spPr>
          <a:xfrm>
            <a:off x="3343275" y="1961601"/>
            <a:ext cx="2571750" cy="2286000"/>
          </a:xfrm>
          <a:prstGeom prst="rect">
            <a:avLst/>
          </a:prstGeom>
          <a:solidFill>
            <a:srgbClr val="FFFFFF">
              <a:alpha val="3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3343275" y="1961601"/>
            <a:ext cx="2571750" cy="28575"/>
          </a:xfrm>
          <a:prstGeom prst="rect">
            <a:avLst/>
          </a:prstGeom>
          <a:solidFill>
            <a:srgbClr val="007AFF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575" y="2140195"/>
            <a:ext cx="342900" cy="342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57575" y="2742056"/>
            <a:ext cx="2343150" cy="2893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FFFFFF"/>
                </a:solidFill>
              </a:rPr>
              <a:t>研发投入受阻</a:t>
            </a:r>
            <a:endParaRPr lang="en-US" sz="1395" dirty="0"/>
          </a:p>
        </p:txBody>
      </p:sp>
      <p:sp>
        <p:nvSpPr>
          <p:cNvPr id="14" name="Text 10"/>
          <p:cNvSpPr/>
          <p:nvPr/>
        </p:nvSpPr>
        <p:spPr>
          <a:xfrm>
            <a:off x="3457575" y="3159965"/>
            <a:ext cx="2343150" cy="617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B0B0B0"/>
                </a:solidFill>
              </a:rPr>
              <a:t>缺乏盈利导致研发经费被迫缩减。技术迭代放缓，削弱了中国制造在固态电池等前沿领域的长期全球竞争力。</a:t>
            </a:r>
            <a:endParaRPr lang="en-US" sz="940" dirty="0"/>
          </a:p>
        </p:txBody>
      </p:sp>
      <p:sp>
        <p:nvSpPr>
          <p:cNvPr id="15" name="Text 11"/>
          <p:cNvSpPr/>
          <p:nvPr/>
        </p:nvSpPr>
        <p:spPr>
          <a:xfrm>
            <a:off x="3457575" y="3905706"/>
            <a:ext cx="1523851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FF3B30"/>
                </a:solidFill>
              </a:rPr>
              <a:t>Innovation Stagnation</a:t>
            </a:r>
            <a:endParaRPr lang="en-US" sz="785" dirty="0"/>
          </a:p>
        </p:txBody>
      </p:sp>
      <p:sp>
        <p:nvSpPr>
          <p:cNvPr id="16" name="Shape 12"/>
          <p:cNvSpPr/>
          <p:nvPr/>
        </p:nvSpPr>
        <p:spPr>
          <a:xfrm>
            <a:off x="6057900" y="1961601"/>
            <a:ext cx="2571750" cy="2286000"/>
          </a:xfrm>
          <a:prstGeom prst="rect">
            <a:avLst/>
          </a:prstGeom>
          <a:solidFill>
            <a:srgbClr val="FFFFFF">
              <a:alpha val="3000"/>
            </a:srgbClr>
          </a:solidFill>
        </p:spPr>
      </p:sp>
      <p:sp>
        <p:nvSpPr>
          <p:cNvPr id="17" name="Shape 13"/>
          <p:cNvSpPr/>
          <p:nvPr/>
        </p:nvSpPr>
        <p:spPr>
          <a:xfrm>
            <a:off x="6057900" y="1961601"/>
            <a:ext cx="2571750" cy="28575"/>
          </a:xfrm>
          <a:prstGeom prst="rect">
            <a:avLst/>
          </a:prstGeom>
          <a:solidFill>
            <a:srgbClr val="007AFF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40195"/>
            <a:ext cx="342900" cy="3429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2200" y="2742056"/>
            <a:ext cx="2343150" cy="2893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FFFFFF"/>
                </a:solidFill>
              </a:rPr>
              <a:t>行业生态乱象</a:t>
            </a:r>
            <a:endParaRPr lang="en-US" sz="1395" dirty="0"/>
          </a:p>
        </p:txBody>
      </p:sp>
      <p:sp>
        <p:nvSpPr>
          <p:cNvPr id="20" name="Text 15"/>
          <p:cNvSpPr/>
          <p:nvPr/>
        </p:nvSpPr>
        <p:spPr>
          <a:xfrm>
            <a:off x="6172200" y="3159965"/>
            <a:ext cx="2343150" cy="617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B0B0B0"/>
                </a:solidFill>
              </a:rPr>
              <a:t>专利侵权频发，低价低质产品充斥市场。恶性竞争损害了“中国制造”的品牌声誉，不利于产业的长期健康发展。</a:t>
            </a:r>
            <a:endParaRPr lang="en-US" sz="940" dirty="0"/>
          </a:p>
        </p:txBody>
      </p:sp>
      <p:sp>
        <p:nvSpPr>
          <p:cNvPr id="21" name="Text 16"/>
          <p:cNvSpPr/>
          <p:nvPr/>
        </p:nvSpPr>
        <p:spPr>
          <a:xfrm>
            <a:off x="6172200" y="3905706"/>
            <a:ext cx="1080381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FF3B30"/>
                </a:solidFill>
              </a:rPr>
              <a:t>Market Disorder</a:t>
            </a:r>
            <a:endParaRPr lang="en-US" sz="78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001000" cy="4982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FFFFFF"/>
                </a:solidFill>
              </a:rPr>
              <a:t>国家调控：从“野蛮生长”转向“规范有序”</a:t>
            </a:r>
            <a:endParaRPr lang="en-US" sz="2435" dirty="0"/>
          </a:p>
        </p:txBody>
      </p:sp>
      <p:sp>
        <p:nvSpPr>
          <p:cNvPr id="4" name="Shape 1"/>
          <p:cNvSpPr/>
          <p:nvPr/>
        </p:nvSpPr>
        <p:spPr>
          <a:xfrm>
            <a:off x="571500" y="1525832"/>
            <a:ext cx="2533631" cy="2743200"/>
          </a:xfrm>
          <a:prstGeom prst="rect">
            <a:avLst/>
          </a:prstGeom>
          <a:solidFill>
            <a:srgbClr val="FFFFFF">
              <a:alpha val="3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71500" y="1525832"/>
            <a:ext cx="2533631" cy="28575"/>
          </a:xfrm>
          <a:prstGeom prst="rect">
            <a:avLst/>
          </a:prstGeom>
          <a:solidFill>
            <a:srgbClr val="007AFF"/>
          </a:solidFill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733001"/>
            <a:ext cx="385763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4375" y="2363437"/>
            <a:ext cx="2247881" cy="3321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控产能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14375" y="2795634"/>
            <a:ext cx="48332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7AFF"/>
                </a:solidFill>
              </a:rPr>
              <a:t>•</a:t>
            </a:r>
            <a:endParaRPr lang="en-US" sz="885" dirty="0"/>
          </a:p>
        </p:txBody>
      </p:sp>
      <p:sp>
        <p:nvSpPr>
          <p:cNvPr id="9" name="Text 5"/>
          <p:cNvSpPr/>
          <p:nvPr/>
        </p:nvSpPr>
        <p:spPr>
          <a:xfrm>
            <a:off x="892969" y="2809922"/>
            <a:ext cx="1285903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B0B0B0"/>
                </a:solidFill>
              </a:rPr>
              <a:t>严控低端产能盲目扩张</a:t>
            </a:r>
            <a:endParaRPr lang="en-US" sz="940" dirty="0"/>
          </a:p>
        </p:txBody>
      </p:sp>
      <p:sp>
        <p:nvSpPr>
          <p:cNvPr id="10" name="Text 6"/>
          <p:cNvSpPr/>
          <p:nvPr/>
        </p:nvSpPr>
        <p:spPr>
          <a:xfrm>
            <a:off x="714375" y="3087077"/>
            <a:ext cx="48332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7AFF"/>
                </a:solidFill>
              </a:rPr>
              <a:t>•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892969" y="3101364"/>
            <a:ext cx="1800253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B0B0B0"/>
                </a:solidFill>
              </a:rPr>
              <a:t>引导行业向高端、高质方向集中</a:t>
            </a:r>
            <a:endParaRPr lang="en-US" sz="940" dirty="0"/>
          </a:p>
        </p:txBody>
      </p:sp>
      <p:sp>
        <p:nvSpPr>
          <p:cNvPr id="12" name="Text 8"/>
          <p:cNvSpPr/>
          <p:nvPr/>
        </p:nvSpPr>
        <p:spPr>
          <a:xfrm>
            <a:off x="714375" y="3378519"/>
            <a:ext cx="48332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7AFF"/>
                </a:solidFill>
              </a:rPr>
              <a:t>•</a:t>
            </a:r>
            <a:endParaRPr lang="en-US" sz="885" dirty="0"/>
          </a:p>
        </p:txBody>
      </p:sp>
      <p:sp>
        <p:nvSpPr>
          <p:cNvPr id="13" name="Text 9"/>
          <p:cNvSpPr/>
          <p:nvPr/>
        </p:nvSpPr>
        <p:spPr>
          <a:xfrm>
            <a:off x="892969" y="3392807"/>
            <a:ext cx="1671665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B0B0B0"/>
                </a:solidFill>
              </a:rPr>
              <a:t>提高行业准入门槛与能效标准</a:t>
            </a:r>
            <a:endParaRPr lang="en-US" sz="940" dirty="0"/>
          </a:p>
        </p:txBody>
      </p:sp>
      <p:sp>
        <p:nvSpPr>
          <p:cNvPr id="14" name="Shape 10"/>
          <p:cNvSpPr/>
          <p:nvPr/>
        </p:nvSpPr>
        <p:spPr>
          <a:xfrm>
            <a:off x="3305156" y="1525832"/>
            <a:ext cx="2533659" cy="2743200"/>
          </a:xfrm>
          <a:prstGeom prst="rect">
            <a:avLst/>
          </a:prstGeom>
          <a:solidFill>
            <a:srgbClr val="FFFFFF">
              <a:alpha val="3000"/>
            </a:srgbClr>
          </a:solidFill>
        </p:spPr>
      </p:sp>
      <p:sp>
        <p:nvSpPr>
          <p:cNvPr id="15" name="Shape 11"/>
          <p:cNvSpPr/>
          <p:nvPr/>
        </p:nvSpPr>
        <p:spPr>
          <a:xfrm>
            <a:off x="3305156" y="1525832"/>
            <a:ext cx="2533659" cy="28575"/>
          </a:xfrm>
          <a:prstGeom prst="rect">
            <a:avLst/>
          </a:prstGeom>
          <a:solidFill>
            <a:srgbClr val="007AFF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031" y="1733001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48031" y="2363437"/>
            <a:ext cx="2247909" cy="3321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管价格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3448031" y="2795634"/>
            <a:ext cx="48332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7AFF"/>
                </a:solidFill>
              </a:rPr>
              <a:t>•</a:t>
            </a:r>
            <a:endParaRPr lang="en-US" sz="885" dirty="0"/>
          </a:p>
        </p:txBody>
      </p:sp>
      <p:sp>
        <p:nvSpPr>
          <p:cNvPr id="19" name="Text 14"/>
          <p:cNvSpPr/>
          <p:nvPr/>
        </p:nvSpPr>
        <p:spPr>
          <a:xfrm>
            <a:off x="3626625" y="2809922"/>
            <a:ext cx="1800253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B0B0B0"/>
                </a:solidFill>
              </a:rPr>
              <a:t>建立合理的价格监测与预警机制</a:t>
            </a:r>
            <a:endParaRPr lang="en-US" sz="940" dirty="0"/>
          </a:p>
        </p:txBody>
      </p:sp>
      <p:sp>
        <p:nvSpPr>
          <p:cNvPr id="20" name="Text 15"/>
          <p:cNvSpPr/>
          <p:nvPr/>
        </p:nvSpPr>
        <p:spPr>
          <a:xfrm>
            <a:off x="3448031" y="3087077"/>
            <a:ext cx="48332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7AFF"/>
                </a:solidFill>
              </a:rPr>
              <a:t>•</a:t>
            </a:r>
            <a:endParaRPr lang="en-US" sz="885" dirty="0"/>
          </a:p>
        </p:txBody>
      </p:sp>
      <p:sp>
        <p:nvSpPr>
          <p:cNvPr id="21" name="Text 16"/>
          <p:cNvSpPr/>
          <p:nvPr/>
        </p:nvSpPr>
        <p:spPr>
          <a:xfrm>
            <a:off x="3626625" y="3101364"/>
            <a:ext cx="1543078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B0B0B0"/>
                </a:solidFill>
              </a:rPr>
              <a:t>打击低于成本的恶意价格战</a:t>
            </a:r>
            <a:endParaRPr lang="en-US" sz="940" dirty="0"/>
          </a:p>
        </p:txBody>
      </p:sp>
      <p:sp>
        <p:nvSpPr>
          <p:cNvPr id="22" name="Text 17"/>
          <p:cNvSpPr/>
          <p:nvPr/>
        </p:nvSpPr>
        <p:spPr>
          <a:xfrm>
            <a:off x="3448031" y="3378519"/>
            <a:ext cx="48332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7AFF"/>
                </a:solidFill>
              </a:rPr>
              <a:t>•</a:t>
            </a:r>
            <a:endParaRPr lang="en-US" sz="885" dirty="0"/>
          </a:p>
        </p:txBody>
      </p:sp>
      <p:sp>
        <p:nvSpPr>
          <p:cNvPr id="23" name="Text 18"/>
          <p:cNvSpPr/>
          <p:nvPr/>
        </p:nvSpPr>
        <p:spPr>
          <a:xfrm>
            <a:off x="3626625" y="3392807"/>
            <a:ext cx="1543078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B0B0B0"/>
                </a:solidFill>
              </a:rPr>
              <a:t>规范上下游产业链价格联动</a:t>
            </a:r>
            <a:endParaRPr lang="en-US" sz="940" dirty="0"/>
          </a:p>
        </p:txBody>
      </p:sp>
      <p:sp>
        <p:nvSpPr>
          <p:cNvPr id="24" name="Shape 19"/>
          <p:cNvSpPr/>
          <p:nvPr/>
        </p:nvSpPr>
        <p:spPr>
          <a:xfrm>
            <a:off x="6038841" y="1525832"/>
            <a:ext cx="2533631" cy="2743200"/>
          </a:xfrm>
          <a:prstGeom prst="rect">
            <a:avLst/>
          </a:prstGeom>
          <a:solidFill>
            <a:srgbClr val="FFFFFF">
              <a:alpha val="3000"/>
            </a:srgbClr>
          </a:solidFill>
        </p:spPr>
      </p:sp>
      <p:sp>
        <p:nvSpPr>
          <p:cNvPr id="25" name="Shape 20"/>
          <p:cNvSpPr/>
          <p:nvPr/>
        </p:nvSpPr>
        <p:spPr>
          <a:xfrm>
            <a:off x="6038841" y="1525832"/>
            <a:ext cx="2533631" cy="28575"/>
          </a:xfrm>
          <a:prstGeom prst="rect">
            <a:avLst/>
          </a:prstGeom>
          <a:solidFill>
            <a:srgbClr val="007AFF"/>
          </a:solidFill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16" y="1733001"/>
            <a:ext cx="342900" cy="3429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181716" y="2363437"/>
            <a:ext cx="2247881" cy="3321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护专利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6181716" y="2795634"/>
            <a:ext cx="48332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7AFF"/>
                </a:solidFill>
              </a:rPr>
              <a:t>•</a:t>
            </a:r>
            <a:endParaRPr lang="en-US" sz="885" dirty="0"/>
          </a:p>
        </p:txBody>
      </p:sp>
      <p:sp>
        <p:nvSpPr>
          <p:cNvPr id="29" name="Text 23"/>
          <p:cNvSpPr/>
          <p:nvPr/>
        </p:nvSpPr>
        <p:spPr>
          <a:xfrm>
            <a:off x="6360309" y="2809922"/>
            <a:ext cx="1800253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B0B0B0"/>
                </a:solidFill>
              </a:rPr>
              <a:t>强化动力电池领域知识产权保护</a:t>
            </a:r>
            <a:endParaRPr lang="en-US" sz="940" dirty="0"/>
          </a:p>
        </p:txBody>
      </p:sp>
      <p:sp>
        <p:nvSpPr>
          <p:cNvPr id="30" name="Text 24"/>
          <p:cNvSpPr/>
          <p:nvPr/>
        </p:nvSpPr>
        <p:spPr>
          <a:xfrm>
            <a:off x="6181716" y="3087077"/>
            <a:ext cx="48332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7AFF"/>
                </a:solidFill>
              </a:rPr>
              <a:t>•</a:t>
            </a:r>
            <a:endParaRPr lang="en-US" sz="885" dirty="0"/>
          </a:p>
        </p:txBody>
      </p:sp>
      <p:sp>
        <p:nvSpPr>
          <p:cNvPr id="31" name="Text 25"/>
          <p:cNvSpPr/>
          <p:nvPr/>
        </p:nvSpPr>
        <p:spPr>
          <a:xfrm>
            <a:off x="6360309" y="3101364"/>
            <a:ext cx="1671665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B0B0B0"/>
                </a:solidFill>
              </a:rPr>
              <a:t>严厉打击专利侵权与技术剽窃</a:t>
            </a:r>
            <a:endParaRPr lang="en-US" sz="940" dirty="0"/>
          </a:p>
        </p:txBody>
      </p:sp>
      <p:sp>
        <p:nvSpPr>
          <p:cNvPr id="32" name="Text 26"/>
          <p:cNvSpPr/>
          <p:nvPr/>
        </p:nvSpPr>
        <p:spPr>
          <a:xfrm>
            <a:off x="6181716" y="3378519"/>
            <a:ext cx="48332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7AFF"/>
                </a:solidFill>
              </a:rPr>
              <a:t>•</a:t>
            </a:r>
            <a:endParaRPr lang="en-US" sz="885" dirty="0"/>
          </a:p>
        </p:txBody>
      </p:sp>
      <p:sp>
        <p:nvSpPr>
          <p:cNvPr id="33" name="Text 27"/>
          <p:cNvSpPr/>
          <p:nvPr/>
        </p:nvSpPr>
        <p:spPr>
          <a:xfrm>
            <a:off x="6360309" y="3392807"/>
            <a:ext cx="1928840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B0B0B0"/>
                </a:solidFill>
              </a:rPr>
              <a:t>鼓励原创研发，保护企业创新动力</a:t>
            </a:r>
            <a:endParaRPr lang="en-US" sz="9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572500" cy="4982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FFFFFF"/>
                </a:solidFill>
              </a:rPr>
              <a:t>未来方向：高质量出海是必经之路</a:t>
            </a:r>
            <a:endParaRPr lang="en-US" sz="2435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38830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4388" y="1879895"/>
            <a:ext cx="1200150" cy="2893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007AFF"/>
                </a:solidFill>
              </a:rPr>
              <a:t>从产品到产业</a:t>
            </a:r>
            <a:endParaRPr lang="en-US" sz="1395" dirty="0"/>
          </a:p>
        </p:txBody>
      </p:sp>
      <p:sp>
        <p:nvSpPr>
          <p:cNvPr id="6" name="Text 2"/>
          <p:cNvSpPr/>
          <p:nvPr/>
        </p:nvSpPr>
        <p:spPr>
          <a:xfrm>
            <a:off x="571500" y="2212079"/>
            <a:ext cx="3300413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B0B0B0"/>
                </a:solidFill>
              </a:rPr>
              <a:t>从单纯出口转向在海外建立本土化产业链，推动“中国技术+全球制造”。</a:t>
            </a:r>
            <a:endParaRPr lang="en-US" sz="94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18206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4388" y="2959271"/>
            <a:ext cx="1200150" cy="2893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007AFF"/>
                </a:solidFill>
              </a:rPr>
              <a:t>绿色合规挑战</a:t>
            </a:r>
            <a:endParaRPr lang="en-US" sz="1395" dirty="0"/>
          </a:p>
        </p:txBody>
      </p:sp>
      <p:sp>
        <p:nvSpPr>
          <p:cNvPr id="9" name="Text 4"/>
          <p:cNvSpPr/>
          <p:nvPr/>
        </p:nvSpPr>
        <p:spPr>
          <a:xfrm>
            <a:off x="571500" y="3291455"/>
            <a:ext cx="3300413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B0B0B0"/>
                </a:solidFill>
              </a:rPr>
              <a:t>落实《新电池法》与电池护照要求，构建全生命周期碳足迹管理。</a:t>
            </a:r>
            <a:endParaRPr lang="en-US" sz="94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97582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14388" y="4038647"/>
            <a:ext cx="1200150" cy="2893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007AFF"/>
                </a:solidFill>
              </a:rPr>
              <a:t>抢占技术高地</a:t>
            </a:r>
            <a:endParaRPr lang="en-US" sz="1395" dirty="0"/>
          </a:p>
        </p:txBody>
      </p:sp>
      <p:sp>
        <p:nvSpPr>
          <p:cNvPr id="12" name="Text 6"/>
          <p:cNvSpPr/>
          <p:nvPr/>
        </p:nvSpPr>
        <p:spPr>
          <a:xfrm>
            <a:off x="571500" y="4370831"/>
            <a:ext cx="3300413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B0B0B0"/>
                </a:solidFill>
              </a:rPr>
              <a:t>重点突破固态电池、超快充及高镍无钴材料，保持技术领先。</a:t>
            </a:r>
            <a:endParaRPr lang="en-US" sz="94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7663" y="1629863"/>
            <a:ext cx="2157413" cy="11572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261163" y="2830013"/>
            <a:ext cx="2053912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kern="0" spc="1" dirty="0">
                <a:solidFill>
                  <a:srgbClr val="007AFF"/>
                </a:solidFill>
              </a:rPr>
              <a:t>Advanced Solid-State Technology</a:t>
            </a:r>
            <a:endParaRPr lang="en-US" sz="725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5088" y="1629863"/>
            <a:ext cx="2157413" cy="115728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477707" y="2830013"/>
            <a:ext cx="2094793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kern="0" spc="1" dirty="0">
                <a:solidFill>
                  <a:srgbClr val="007AFF"/>
                </a:solidFill>
              </a:rPr>
              <a:t>Global Manufacturing Excellence</a:t>
            </a:r>
            <a:endParaRPr lang="en-US" sz="7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41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572500" cy="4982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FFFFFF"/>
                </a:solidFill>
              </a:rPr>
              <a:t>总结与展望：阵痛后的涅槃重生</a:t>
            </a:r>
            <a:endParaRPr lang="en-US" sz="2435" dirty="0"/>
          </a:p>
        </p:txBody>
      </p:sp>
      <p:sp>
        <p:nvSpPr>
          <p:cNvPr id="4" name="Text 1"/>
          <p:cNvSpPr/>
          <p:nvPr/>
        </p:nvSpPr>
        <p:spPr>
          <a:xfrm>
            <a:off x="571500" y="1661564"/>
            <a:ext cx="4629150" cy="2893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FFFFFF"/>
                </a:solidFill>
              </a:rPr>
              <a:t>行业共识</a:t>
            </a:r>
            <a:endParaRPr lang="en-US" sz="1395" dirty="0"/>
          </a:p>
        </p:txBody>
      </p:sp>
      <p:sp>
        <p:nvSpPr>
          <p:cNvPr id="5" name="Text 2"/>
          <p:cNvSpPr/>
          <p:nvPr/>
        </p:nvSpPr>
        <p:spPr>
          <a:xfrm>
            <a:off x="571500" y="2036611"/>
            <a:ext cx="462915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B0B0B0"/>
                </a:solidFill>
              </a:rPr>
              <a:t>无序扩张与价格战没有赢家。行业共识已形成：高质量发展、尊重知识产权与合理利润。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915292"/>
            <a:ext cx="4629150" cy="2893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FFFFFF"/>
                </a:solidFill>
              </a:rPr>
              <a:t>未来趋势</a:t>
            </a:r>
            <a:endParaRPr lang="en-US" sz="1395" dirty="0"/>
          </a:p>
        </p:txBody>
      </p:sp>
      <p:sp>
        <p:nvSpPr>
          <p:cNvPr id="7" name="Text 4"/>
          <p:cNvSpPr/>
          <p:nvPr/>
        </p:nvSpPr>
        <p:spPr>
          <a:xfrm>
            <a:off x="571500" y="3290339"/>
            <a:ext cx="462915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B0B0B0"/>
                </a:solidFill>
              </a:rPr>
              <a:t>集中度将向头部靠拢。具备核心技术、全球布局与绿色管理的企业更具竞争力。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4169020"/>
            <a:ext cx="4629150" cy="2893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FFFFFF"/>
                </a:solidFill>
              </a:rPr>
              <a:t>涅槃重生</a:t>
            </a:r>
            <a:endParaRPr lang="en-US" sz="1395" dirty="0"/>
          </a:p>
        </p:txBody>
      </p:sp>
      <p:sp>
        <p:nvSpPr>
          <p:cNvPr id="9" name="Text 6"/>
          <p:cNvSpPr/>
          <p:nvPr/>
        </p:nvSpPr>
        <p:spPr>
          <a:xfrm>
            <a:off x="571500" y="4544067"/>
            <a:ext cx="462915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B0B0B0"/>
                </a:solidFill>
              </a:rPr>
              <a:t>国家调控旨在清理落后产能、保护创新，推动产业从规模领先向价值领先转型。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0" y="1311520"/>
            <a:ext cx="3657600" cy="3832622"/>
          </a:xfrm>
          <a:prstGeom prst="rect">
            <a:avLst/>
          </a:prstGeom>
          <a:solidFill>
            <a:srgbClr val="007AFF">
              <a:alpha val="5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5486400" y="1311520"/>
            <a:ext cx="7144" cy="3832622"/>
          </a:xfrm>
          <a:prstGeom prst="rect">
            <a:avLst/>
          </a:prstGeom>
          <a:solidFill>
            <a:srgbClr val="CCE4FF"/>
          </a:solidFill>
        </p:spPr>
      </p:sp>
      <p:sp>
        <p:nvSpPr>
          <p:cNvPr id="12" name="Text 9"/>
          <p:cNvSpPr/>
          <p:nvPr/>
        </p:nvSpPr>
        <p:spPr>
          <a:xfrm>
            <a:off x="7098739" y="1668707"/>
            <a:ext cx="432922" cy="8572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6800"/>
              </a:lnSpc>
              <a:buNone/>
            </a:pPr>
            <a:r>
              <a:rPr lang="en-US" sz="6220" b="1" dirty="0">
                <a:solidFill>
                  <a:srgbClr val="007AFF">
                    <a:alpha val="20000"/>
                  </a:srgbClr>
                </a:solidFill>
              </a:rPr>
              <a:t>?</a:t>
            </a:r>
            <a:endParaRPr lang="en-US" sz="6220" dirty="0"/>
          </a:p>
        </p:txBody>
      </p:sp>
      <p:sp>
        <p:nvSpPr>
          <p:cNvPr id="13" name="Text 10"/>
          <p:cNvSpPr/>
          <p:nvPr/>
        </p:nvSpPr>
        <p:spPr>
          <a:xfrm>
            <a:off x="6286472" y="2611682"/>
            <a:ext cx="2057428" cy="7200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810" b="1" dirty="0">
                <a:solidFill>
                  <a:srgbClr val="FFFFFF"/>
                </a:solidFill>
              </a:rPr>
              <a:t>你认为电池价格会</a:t>
            </a:r>
            <a:r>
              <a:rPr lang="en-US" sz="1810" b="1" dirty="0">
                <a:solidFill>
                  <a:srgbClr val="FFFFFF"/>
                </a:solidFill>
              </a:rPr>
              <a:t>
</a:t>
            </a:r>
            <a:r>
              <a:rPr lang="en-US" sz="1810" b="1" dirty="0">
                <a:solidFill>
                  <a:srgbClr val="FFFFFF"/>
                </a:solidFill>
              </a:rPr>
              <a:t>止跌回升吗？</a:t>
            </a:r>
            <a:endParaRPr lang="en-US" sz="1810" dirty="0"/>
          </a:p>
        </p:txBody>
      </p:sp>
      <p:sp>
        <p:nvSpPr>
          <p:cNvPr id="14" name="Shape 11"/>
          <p:cNvSpPr/>
          <p:nvPr/>
        </p:nvSpPr>
        <p:spPr>
          <a:xfrm>
            <a:off x="6600825" y="3474625"/>
            <a:ext cx="1428750" cy="278606"/>
          </a:xfrm>
          <a:prstGeom prst="rect">
            <a:avLst/>
          </a:prstGeom>
          <a:solidFill>
            <a:srgbClr val="007AFF"/>
          </a:solidFill>
        </p:spPr>
      </p:sp>
      <p:sp>
        <p:nvSpPr>
          <p:cNvPr id="15" name="Text 12"/>
          <p:cNvSpPr/>
          <p:nvPr/>
        </p:nvSpPr>
        <p:spPr>
          <a:xfrm>
            <a:off x="6600825" y="3474625"/>
            <a:ext cx="1428750" cy="278606"/>
          </a:xfrm>
          <a:prstGeom prst="rect">
            <a:avLst/>
          </a:prstGeom>
          <a:noFill/>
        </p:spPr>
        <p:txBody>
          <a:bodyPr wrap="square" lIns="170053" tIns="85090" rIns="170053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FFFFF"/>
                </a:solidFill>
              </a:rPr>
              <a:t>欢迎在评论区讨论</a:t>
            </a:r>
            <a:endParaRPr lang="en-US" sz="98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71850" y="2047019"/>
            <a:ext cx="2400300" cy="8286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145" b="1" kern="0" spc="3" dirty="0">
                <a:solidFill>
                  <a:srgbClr val="FFFFFF"/>
                </a:solidFill>
              </a:rPr>
              <a:t>谢谢观看</a:t>
            </a:r>
            <a:endParaRPr lang="en-US" sz="4145" dirty="0"/>
          </a:p>
        </p:txBody>
      </p:sp>
      <p:sp>
        <p:nvSpPr>
          <p:cNvPr id="4" name="Text 1"/>
          <p:cNvSpPr/>
          <p:nvPr/>
        </p:nvSpPr>
        <p:spPr>
          <a:xfrm>
            <a:off x="2514572" y="2989994"/>
            <a:ext cx="4114828" cy="3321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5" dirty="0">
                <a:solidFill>
                  <a:srgbClr val="B0B0B0"/>
                </a:solidFill>
              </a:rPr>
              <a:t>共同见证中国新能源电池行业的转型升级</a:t>
            </a:r>
            <a:endParaRPr lang="en-US" sz="1705" dirty="0"/>
          </a:p>
        </p:txBody>
      </p:sp>
      <p:sp>
        <p:nvSpPr>
          <p:cNvPr id="5" name="Text 2"/>
          <p:cNvSpPr/>
          <p:nvPr/>
        </p:nvSpPr>
        <p:spPr>
          <a:xfrm>
            <a:off x="2948667" y="4625578"/>
            <a:ext cx="3246639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kern="0" spc="2" dirty="0">
                <a:solidFill>
                  <a:srgbClr val="FFFFFF">
                    <a:alpha val="30000"/>
                  </a:srgbClr>
                </a:solidFill>
              </a:rPr>
              <a:t>MANUS AI INDUSTRY ANALYSIS | 2026.01.07</a:t>
            </a:r>
            <a:endParaRPr lang="en-US" sz="9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1597</Words>
  <Application>WPS 演示</Application>
  <PresentationFormat>On-screen Show (16:9)</PresentationFormat>
  <Paragraphs>210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yueyue</cp:lastModifiedBy>
  <cp:revision>2</cp:revision>
  <dcterms:created xsi:type="dcterms:W3CDTF">2026-01-07T12:29:00Z</dcterms:created>
  <dcterms:modified xsi:type="dcterms:W3CDTF">2026-01-07T12:32:34Z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C9FD4A6CC368428EB114CCBE3C179A12_12</vt:lpwstr>
  </property>
  <property fmtid="{D5CDD505-2E9C-101B-9397-08002B2CF9AE}" pid="3" name="KSOProductBuildVer">
    <vt:lpwstr>2052-12.1.0.24034</vt:lpwstr>
  </property>
</Properties>
</file>